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58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</c:v>
                  </c:pt>
                  <c:pt idx="1">
                    <c:v>Moderate</c:v>
                  </c:pt>
                  <c:pt idx="2">
                    <c:v>Heavy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308</c:v>
                </c:pt>
                <c:pt idx="1">
                  <c:v>308</c:v>
                </c:pt>
                <c:pt idx="2">
                  <c:v>318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MB</c:v>
                </c:pt>
              </c:strCache>
            </c:strRef>
          </c:tx>
          <c:spPr>
            <a:solidFill>
              <a:srgbClr val="F58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Education</c:v>
                  </c:pt>
                  <c:pt idx="1">
                    <c:v>Streaming</c:v>
                  </c:pt>
                  <c:pt idx="2">
                    <c:v>Social Media</c:v>
                  </c:pt>
                  <c:pt idx="3">
                    <c:v>Communication</c:v>
                  </c:pt>
                  <c:pt idx="4">
                    <c:v>Cloud Storage</c:v>
                  </c:pt>
                  <c:pt idx="5">
                    <c:v>Blocked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138481.62</c:v>
                </c:pt>
                <c:pt idx="1">
                  <c:v>98260.16</c:v>
                </c:pt>
                <c:pt idx="2">
                  <c:v>92048.62</c:v>
                </c:pt>
                <c:pt idx="3">
                  <c:v>72047.12</c:v>
                </c:pt>
                <c:pt idx="4">
                  <c:v>42756.92</c:v>
                </c:pt>
                <c:pt idx="5">
                  <c:v>31127.34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7F45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Allowed</c:v>
                </c:pt>
                <c:pt idx="1">
                  <c:v>Blocked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872</c:v>
                </c:pt>
                <c:pt idx="1">
                  <c:v>62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2233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MB</c:v>
                </c:pt>
              </c:strCache>
            </c:strRef>
          </c:tx>
          <c:spPr>
            <a:solidFill>
              <a:srgbClr val="F5821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Laptop</c:v>
                  </c:pt>
                  <c:pt idx="1">
                    <c:v>Smartphone</c:v>
                  </c:pt>
                  <c:pt idx="2">
                    <c:v>Tablet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550.13</c:v>
                </c:pt>
                <c:pt idx="1">
                  <c:v>521.07</c:v>
                </c:pt>
                <c:pt idx="2">
                  <c:v>454.57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MB</c:v>
                </c:pt>
              </c:strCache>
            </c:strRef>
          </c:tx>
          <c:spPr>
            <a:solidFill>
              <a:srgbClr val="0B1F4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Faculty</c:v>
                  </c:pt>
                  <c:pt idx="1">
                    <c:v>Guest</c:v>
                  </c:pt>
                  <c:pt idx="2">
                    <c:v>Student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548.16</c:v>
                </c:pt>
                <c:pt idx="1">
                  <c:v>519.56</c:v>
                </c:pt>
                <c:pt idx="2">
                  <c:v>446.36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MB</c:v>
                </c:pt>
              </c:strCache>
            </c:strRef>
          </c:tx>
          <c:spPr>
            <a:solidFill>
              <a:srgbClr val="F5821F"/>
            </a:solidFill>
            <a:ln w="31750" cap="flat">
              <a:solidFill>
                <a:srgbClr val="F582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5821F"/>
              </a:solidFill>
              <a:ln w="9525" cap="flat">
                <a:solidFill>
                  <a:srgbClr val="F582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8</c:v>
                  </c:pt>
                  <c:pt idx="1">
                    <c:v>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  <c:pt idx="9">
                    <c:v>17</c:v>
                  </c:pt>
                  <c:pt idx="10">
                    <c:v>18</c:v>
                  </c:pt>
                  <c:pt idx="11">
                    <c:v>19</c:v>
                  </c:pt>
                  <c:pt idx="12">
                    <c:v>20</c:v>
                  </c:pt>
                  <c:pt idx="13">
                    <c:v>21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15709</c:v>
                </c:pt>
                <c:pt idx="1">
                  <c:v>35385</c:v>
                </c:pt>
                <c:pt idx="2">
                  <c:v>44267</c:v>
                </c:pt>
                <c:pt idx="3">
                  <c:v>48385</c:v>
                </c:pt>
                <c:pt idx="4">
                  <c:v>34085</c:v>
                </c:pt>
                <c:pt idx="5">
                  <c:v>14865</c:v>
                </c:pt>
                <c:pt idx="6">
                  <c:v>29928</c:v>
                </c:pt>
                <c:pt idx="7">
                  <c:v>37708</c:v>
                </c:pt>
                <c:pt idx="8">
                  <c:v>40301</c:v>
                </c:pt>
                <c:pt idx="9">
                  <c:v>27559</c:v>
                </c:pt>
                <c:pt idx="10">
                  <c:v>26220</c:v>
                </c:pt>
                <c:pt idx="11">
                  <c:v>36881</c:v>
                </c:pt>
                <c:pt idx="12">
                  <c:v>42737</c:v>
                </c:pt>
                <c:pt idx="13">
                  <c:v>40690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2"/>
                    </a:solidFill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1.png"/><Relationship Id="rId8" Type="http://schemas.openxmlformats.org/officeDocument/2006/relationships/image" Target="../media/image-1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3224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322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USAGE ANALYSER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pPr indent="0" marL="0">
              <a:buNone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2000" b="1" i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pPr indent="0" marL="0">
              <a:buNone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2000" b="1" i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2000" dirty="0"/>
          </a:p>
        </p:txBody>
      </p:sp>
      <p:pic>
        <p:nvPicPr>
          <p:cNvPr id="8" name="Image 0" descr="/home/claude/icons/wifi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324612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89204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1223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49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Dileep Kumar   </a:t>
            </a:r>
            <a:pPr indent="0" marL="0">
              <a:buNone/>
            </a:pPr>
            <a:r>
              <a:rPr lang="en-US" sz="12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25B11CS342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5349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Putta   </a:t>
            </a:r>
            <a:pPr indent="0" marL="0">
              <a:buNone/>
            </a:pPr>
            <a:r>
              <a:rPr lang="en-US" sz="12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25B11CS022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715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Kancharla J S N S J Deepak   </a:t>
            </a:r>
            <a:pPr indent="0" marL="0">
              <a:buNone/>
            </a:pPr>
            <a:r>
              <a:rPr lang="en-US" sz="12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25B11CS390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5715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Pentapalli Kamal Kiran   </a:t>
            </a:r>
            <a:pPr indent="0" marL="0">
              <a:buNone/>
            </a:pPr>
            <a:r>
              <a:rPr lang="en-US" sz="12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25B11CS744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617220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1223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6172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6172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 V B Murali Krishna, M.Tech — Assistant Professor, Dept. of Freshman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WiFi usage analysis is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warning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288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DEEE3"/>
          </a:solidFill>
          <a:ln/>
        </p:spPr>
      </p:sp>
      <p:pic>
        <p:nvPicPr>
          <p:cNvPr id="8" name="Image 1" descr="/home/claude/icons/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560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of WiFi logs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users go unnoticed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60520" y="18288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E8EEF9"/>
          </a:solidFill>
          <a:ln/>
        </p:spPr>
      </p:sp>
      <p:pic>
        <p:nvPicPr>
          <p:cNvPr id="12" name="Image 2" descr="/home/claude/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574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4632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389120" y="2560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usage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analyze every session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863840" y="18288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DEEE3"/>
          </a:solidFill>
          <a:ln/>
        </p:spPr>
      </p:sp>
      <p:pic>
        <p:nvPicPr>
          <p:cNvPr id="16" name="Image 3" descr="/home/claude/icons/chartb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0574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4964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092440" y="2560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visualization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logs into insights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114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carry heavy, unknown WiFi traffic every day — this system lets them see exactly </a:t>
            </a:r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network, how, and when.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53949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0B1F44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85800" y="5394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analyser that turns raw WiFi logs into bandwidth insights and security alerts.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goals of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targe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8288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organize WiFi access logs (user, device, AP, website, data volume).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834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dataset quality — inspect structure, columns and data types.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3840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 and inconsistent records.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89204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48463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usage using descriptive statistics (upload, download, totals).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26480" y="187452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26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18288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usage across device types, user groups and access points.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26480" y="288036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1264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2834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using tables, charts and visualizations.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126480" y="3886200"/>
            <a:ext cx="457200" cy="457200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26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3840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unusual / unauthorized usage patterns for security review.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WiFi access-log dataset used for the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databas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288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8EE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938528"/>
            <a:ext cx="2286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934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82596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732227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WiFi sessions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8288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8EE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0" y="1938528"/>
            <a:ext cx="2286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482596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732227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session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18288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8EE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938528"/>
            <a:ext cx="2286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482596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732227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columns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823960" y="18288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8EE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1938528"/>
            <a:ext cx="2286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482596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2732227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657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Username, MAC_Address, IP_Address, Device_Name, Device_Type, SSID, Access_Point, Website, Website_Category, Upload_MB, Download_MB, Status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8463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8EEF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" y="4846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 </a:t>
            </a:r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wifi_logs.csv</a:t>
            </a:r>
            <a:pPr indent="0" marL="0">
              <a:buNone/>
            </a:pPr>
            <a:r>
              <a:rPr lang="en-US" sz="125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Period:  </a:t>
            </a:r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04–09 Nov 2024 (6 days)      </a:t>
            </a:r>
            <a:pPr indent="0" marL="0">
              <a:buNone/>
            </a:pPr>
            <a:r>
              <a:rPr lang="en-US" sz="125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 </a:t>
            </a:r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     </a:t>
            </a:r>
            <a:pPr indent="0" marL="0">
              <a:buNone/>
            </a:pPr>
            <a:r>
              <a:rPr lang="en-US" sz="125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Points:  </a:t>
            </a:r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executed before the final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lay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004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3280" y="210312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383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Data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210312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6868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0" y="210312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57200" y="3794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EEF9"/>
          </a:solidFill>
          <a:ln/>
        </p:spPr>
      </p:sp>
      <p:sp>
        <p:nvSpPr>
          <p:cNvPr id="27" name="Shape 24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Validate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06324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200400" y="3794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EEF9"/>
          </a:solidFill>
          <a:ln/>
        </p:spPr>
      </p:sp>
      <p:sp>
        <p:nvSpPr>
          <p:cNvPr id="32" name="Shape 29"/>
          <p:cNvSpPr/>
          <p:nvPr/>
        </p:nvSpPr>
        <p:spPr>
          <a:xfrm>
            <a:off x="3383280" y="397764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383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38328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943600" y="3794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EEF9"/>
          </a:solidFill>
          <a:ln/>
        </p:spPr>
      </p:sp>
      <p:sp>
        <p:nvSpPr>
          <p:cNvPr id="37" name="Shape 34"/>
          <p:cNvSpPr/>
          <p:nvPr/>
        </p:nvSpPr>
        <p:spPr>
          <a:xfrm>
            <a:off x="6126480" y="397764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1264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12648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54964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8686800" y="3794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EEF9"/>
          </a:solidFill>
          <a:ln/>
        </p:spPr>
      </p:sp>
      <p:sp>
        <p:nvSpPr>
          <p:cNvPr id="42" name="Shape 39"/>
          <p:cNvSpPr/>
          <p:nvPr/>
        </p:nvSpPr>
        <p:spPr>
          <a:xfrm>
            <a:off x="8869680" y="3977640"/>
            <a:ext cx="457200" cy="457200"/>
          </a:xfrm>
          <a:prstGeom prst="ellipse">
            <a:avLst/>
          </a:prstGeom>
          <a:solidFill>
            <a:srgbClr val="0B1F44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8696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8869680" y="4572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from the wifi_logs.csv dataset used for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tabl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14400"/>
                <a:gridCol w="1280160"/>
                <a:gridCol w="1051560"/>
                <a:gridCol w="2286000"/>
                <a:gridCol w="1737360"/>
                <a:gridCol w="1005840"/>
                <a:gridCol w="10972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SSID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Website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Up(MB)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Down(MB)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08:02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cs011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Smartphone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Faculty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linkedin.com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Social 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115.67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18.27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08:17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me096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Tablet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Faculty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stackoverflow.com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Education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97.66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365.74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08:45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bt088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Laptop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Faculty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geeksforgeeks.org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Education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56.11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624.71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08:45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ce046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Tablet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twitter.com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Social 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2.84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392.14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08:51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bt065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Tablet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geeksforgeeks.org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Education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46.97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502.67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08:56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ch053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Smartphone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netflix.com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Streaming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128.00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356.83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09:03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ce078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Laptop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whatsapp.com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Communication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63.00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259.27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09:15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me055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Smartphone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Faculty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classroom.google.com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Education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1742.34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87.11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09:36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me091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Smartphone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Faculty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torrent-galaxy.to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Blocked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73.50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201.77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Blocked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09:55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ec060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Laptop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1337x.to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Blocked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123.63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38.37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233F"/>
                          </a:solidFill>
                        </a:rPr>
                        <a:t>Blocked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Load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 and display the first records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databas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7452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0B1F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"wifi_logs.csv"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E8EE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(934, 13)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record: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cs011 | Smartphone | VIIT-Faculty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 | Social Media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115.67 MB | Download 18.27 MB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rows loaded successfully.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Inspect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structure, column names and data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chartba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7452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0B1F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E8EE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&lt;class 'DataFrame'&gt;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RangeIndex: 934 entries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13   Non-Null: 934 (all)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Upload_MB, Download_MB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Username, MAC_Address,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Device_Type, SSID, Access_Point,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Website_Category, Status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Data Quality 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missing values and duplicate records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warning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7452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0B1F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df.isnull().sum()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 = df.duplicated().sum()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print(missing)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print("Duplicates:", duplicates)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E8EE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columns → 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missing values → 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→ 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missing-value treatment was required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duplicate rows were removed.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Cleaning &amp; 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ranges and keep the dataset analysis-ready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shiel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7452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0B1F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print(df["Upload_MB"].min(),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df["Upload_MB"].max())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print(df["Download_MB"].min(),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df["Download_MB"].max())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print(df["Timestamp"].min(),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df["Timestamp"].max())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E8EE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Columns → (934, 13)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0.53 to 2469.95 MB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→ 6.25 to 799.41 MB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→ 04 Nov to 09 Nov 2024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or duplicate rows.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ready for EDA.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Descriptive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for key usage measures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chartlin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28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8EE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938528"/>
            <a:ext cx="22860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123.96 MB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507742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UPLOAD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766974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828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8EE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0" y="1938528"/>
            <a:ext cx="22860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384.31 MB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507742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DOWNLOAD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766974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1828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8EE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938528"/>
            <a:ext cx="22860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463.6 GB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507742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766974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934 sessions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823960" y="1828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8EE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1938528"/>
            <a:ext cx="22860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93.36%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507742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RATE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2766974"/>
            <a:ext cx="22860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 of 934 sessions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DEEE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3474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unique users   </a:t>
            </a:r>
            <a:pPr indent="0" marL="0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155 devices, 12 access points, and 3 SSIDs (Student / Faculty / Guest).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3886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bandwidth consumer:  </a:t>
            </a:r>
            <a:pPr indent="0" marL="0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me055 — 12,816 MB total across the 6-day window.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297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session size:  </a:t>
            </a:r>
            <a:pPr indent="0" marL="0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~451 MB (Upload+Download); Website categories span Education, Streaming, Social Media, Communication, Cloud Storage.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Usage Level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Light, Moderate and Heavy usage sessions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chartba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57200" y="18745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06640" y="1920240"/>
            <a:ext cx="4297680" cy="1143000"/>
          </a:xfrm>
          <a:prstGeom prst="roundRect">
            <a:avLst>
              <a:gd name="adj" fmla="val 4800"/>
            </a:avLst>
          </a:prstGeom>
          <a:solidFill>
            <a:srgbClr val="FDEEE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63524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2304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sessions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usage tier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06640" y="3291840"/>
            <a:ext cx="4297680" cy="1143000"/>
          </a:xfrm>
          <a:prstGeom prst="roundRect">
            <a:avLst>
              <a:gd name="adj" fmla="val 4800"/>
            </a:avLst>
          </a:prstGeom>
          <a:solidFill>
            <a:srgbClr val="E8EE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63524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3675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sessions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usage tier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406640" y="4663440"/>
            <a:ext cx="4297680" cy="1143000"/>
          </a:xfrm>
          <a:prstGeom prst="roundRect">
            <a:avLst>
              <a:gd name="adj" fmla="val 4800"/>
            </a:avLst>
          </a:prstGeom>
          <a:solidFill>
            <a:srgbClr val="E8EEF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635240" y="4773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5047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sessions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5486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middle tier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Website Category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usage (MB) by website category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chartba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5720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680960" y="192024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DEEE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90956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USAGE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138,482 MB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data category overall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680960" y="329184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E8EE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90956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98,260 MB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90956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 consumer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680960" y="466344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E8EEF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90956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TRAFFIC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909560" y="5047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31,127 MB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909560" y="5468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62 blocked sessions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Allowed / Blocked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access outcome across all 934 sessions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shiel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57200" y="192024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19659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8EE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26364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2313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 sessions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2715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93.36% of all traffic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320040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DEEE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sessions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3950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6.64% of all traffic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448056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B1F4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26364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sessions flagged for unusually high uploads (&gt; 696 MB, mean + 2σ) — routed for admin investigation.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Comparative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data usage (MB) across groups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balanc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Device Type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945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User Group (SSID)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1945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Peak Usage Hour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usage (MB) by hour of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clock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57200" y="187452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046720" y="192024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DEEE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753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AM — 48,385 MB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7532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single-hour load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046720" y="329184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E8EE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753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PEAK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2753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PM — ~83,400 MB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4078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usage surge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466344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E8EEF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7532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vs Download: −0.21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5449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relationship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/ Observed Insights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actual wifi_logs.csv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6" name="Image 0" descr="/home/claude/icons/check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457200" cy="457200"/>
          </a:xfrm>
          <a:prstGeom prst="rect">
            <a:avLst/>
          </a:prstGeom>
        </p:spPr>
      </p:pic>
      <p:pic>
        <p:nvPicPr>
          <p:cNvPr id="7" name="Image 1" descr="/home/claude/icons/che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952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934 WiFi sessions from 100 users across 12 access points.</a:t>
            </a:r>
            <a:endParaRPr lang="en-US" sz="1400" dirty="0"/>
          </a:p>
        </p:txBody>
      </p:sp>
      <p:pic>
        <p:nvPicPr>
          <p:cNvPr id="9" name="Image 2" descr="/home/claude/icons/check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374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14400" y="24963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 rows were found during preprocessing.</a:t>
            </a:r>
            <a:endParaRPr lang="en-US" sz="1400" dirty="0"/>
          </a:p>
        </p:txBody>
      </p:sp>
      <p:pic>
        <p:nvPicPr>
          <p:cNvPr id="11" name="Image 3" descr="/home/claude/icons/check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4553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14400" y="31181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 usage per session is 508 MB (123.96 MB upload + 384.31 MB download).</a:t>
            </a:r>
            <a:endParaRPr lang="en-US" sz="1400" dirty="0"/>
          </a:p>
        </p:txBody>
      </p:sp>
      <p:pic>
        <p:nvPicPr>
          <p:cNvPr id="13" name="Image 4" descr="/home/claude/icons/check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6732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14400" y="3739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 sessions (93.36%) were allowed; 62 sessions (6.64%) were blocked.</a:t>
            </a:r>
            <a:endParaRPr lang="en-US" sz="1400" dirty="0"/>
          </a:p>
        </p:txBody>
      </p:sp>
      <p:pic>
        <p:nvPicPr>
          <p:cNvPr id="15" name="Image 5" descr="/home/claude/icons/check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89120"/>
            <a:ext cx="292608" cy="29260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914400" y="43616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the highest data-consuming category at 138,482 MB, ahead of Streaming and Social Media.</a:t>
            </a:r>
            <a:endParaRPr lang="en-US" sz="1400" dirty="0"/>
          </a:p>
        </p:txBody>
      </p:sp>
      <p:pic>
        <p:nvPicPr>
          <p:cNvPr id="17" name="Image 6" descr="/home/claude/icons/check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010912"/>
            <a:ext cx="292608" cy="29260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usage occurs around 11 AM and again between 8–9 PM, aligning with class breaks and evening hours.</a:t>
            </a:r>
            <a:endParaRPr lang="en-US" sz="1400" dirty="0"/>
          </a:p>
        </p:txBody>
      </p:sp>
      <p:pic>
        <p:nvPicPr>
          <p:cNvPr id="19" name="Image 7" descr="/home/claude/icons/check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632704"/>
            <a:ext cx="292608" cy="29260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914400" y="56052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sessions were flagged as anomalies (unusually high uploads) for administrator investigation.</a:t>
            </a:r>
            <a:endParaRPr lang="en-US" sz="1400" dirty="0"/>
          </a:p>
        </p:txBody>
      </p:sp>
      <p:sp>
        <p:nvSpPr>
          <p:cNvPr id="21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322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WiFi usage dataset was loaded, inspected and validated successfully.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confirmed the 934 sessions contain no missing values or duplicate rows.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and comparative analysis revealed clear bandwidth and usage patterns.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make usage tiers, category consumption and peak hours easy to understand.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flags unusually high uploads for administrator review.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800600"/>
            <a:ext cx="7498080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983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→ Clean → Analyze → Visualize → Detect Anomalies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understanding of WiFi network usage</a:t>
            </a:r>
            <a:endParaRPr lang="en-US" sz="1300" dirty="0"/>
          </a:p>
        </p:txBody>
      </p:sp>
      <p:pic>
        <p:nvPicPr>
          <p:cNvPr id="8" name="Image 0" descr="/home/claude/icons/wifi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743200"/>
            <a:ext cx="201168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6400800" cy="6400800"/>
          </a:xfrm>
          <a:prstGeom prst="ellipse">
            <a:avLst/>
          </a:prstGeom>
          <a:solidFill>
            <a:srgbClr val="13224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2743200"/>
            <a:ext cx="5486400" cy="5486400"/>
          </a:xfrm>
          <a:prstGeom prst="ellipse">
            <a:avLst/>
          </a:prstGeom>
          <a:solidFill>
            <a:srgbClr val="1322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pic>
        <p:nvPicPr>
          <p:cNvPr id="5" name="Image 0" descr="/home/claude/icons/wifi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1031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Usage Analyser  •  934 sessions  •  100 users  •  13 attributes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2026-09-27T16:06:39Z</dcterms:created>
  <dcterms:modified xsi:type="dcterms:W3CDTF">2026-09-27T16:06:39Z</dcterms:modified>
</cp:coreProperties>
</file>